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f0e587fcb24c47" /><Relationship Type="http://schemas.openxmlformats.org/officeDocument/2006/relationships/extended-properties" Target="/docProps/app.xml" Id="Ra0c4b1847d9240d3" /><Relationship Type="http://schemas.openxmlformats.org/officeDocument/2006/relationships/officeDocument" Target="/ppt/presentation.xml" Id="Re092baa6b7644c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9dd8c9e51d4e72"/>
  </p:sldMasterIdLst>
  <p:notesMasterIdLst>
    <p:notesMasterId xmlns:r="http://schemas.openxmlformats.org/officeDocument/2006/relationships" r:id="Rcaf9aa6436c24e2c"/>
  </p:notesMasterIdLst>
  <p:sldIdLst>
    <p:sldId xmlns:r="http://schemas.openxmlformats.org/officeDocument/2006/relationships" id="256" r:id="R622c4d31e46746f9"/>
    <p:sldId xmlns:r="http://schemas.openxmlformats.org/officeDocument/2006/relationships" id="257" r:id="R7aa5a0211a3a46ff"/>
    <p:sldId xmlns:r="http://schemas.openxmlformats.org/officeDocument/2006/relationships" id="258" r:id="R22b0790424044d7f"/>
    <p:sldId xmlns:r="http://schemas.openxmlformats.org/officeDocument/2006/relationships" id="259" r:id="Red612ec7c62346db"/>
    <p:sldId xmlns:r="http://schemas.openxmlformats.org/officeDocument/2006/relationships" id="260" r:id="Rad312a7220ac489d"/>
    <p:sldId xmlns:r="http://schemas.openxmlformats.org/officeDocument/2006/relationships" id="261" r:id="R61890ad4404a4361"/>
    <p:sldId xmlns:r="http://schemas.openxmlformats.org/officeDocument/2006/relationships" id="262" r:id="Rafefb71d70c74518"/>
    <p:sldId xmlns:r="http://schemas.openxmlformats.org/officeDocument/2006/relationships" id="263" r:id="R6cc02ea2a98c4cfa"/>
    <p:sldId xmlns:r="http://schemas.openxmlformats.org/officeDocument/2006/relationships" id="264" r:id="R1ef146be211c4793"/>
    <p:sldId xmlns:r="http://schemas.openxmlformats.org/officeDocument/2006/relationships" id="265" r:id="R8a421cca0c424b01"/>
    <p:sldId xmlns:r="http://schemas.openxmlformats.org/officeDocument/2006/relationships" id="266" r:id="R40c0655627cd4fc4"/>
    <p:sldId xmlns:r="http://schemas.openxmlformats.org/officeDocument/2006/relationships" id="267" r:id="Rce1896b191294d39"/>
    <p:sldId xmlns:r="http://schemas.openxmlformats.org/officeDocument/2006/relationships" id="268" r:id="R053639e0ada248b6"/>
    <p:sldId xmlns:r="http://schemas.openxmlformats.org/officeDocument/2006/relationships" id="269" r:id="R05fd61a7962e462e"/>
    <p:sldId xmlns:r="http://schemas.openxmlformats.org/officeDocument/2006/relationships" id="270" r:id="R0958881571514f6d"/>
    <p:sldId xmlns:r="http://schemas.openxmlformats.org/officeDocument/2006/relationships" id="271" r:id="R7e4ce5b9256e4396"/>
    <p:sldId xmlns:r="http://schemas.openxmlformats.org/officeDocument/2006/relationships" id="272" r:id="Rb216e7b9c65645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91f8ccd10d4748" /><Relationship Type="http://schemas.openxmlformats.org/officeDocument/2006/relationships/slideMaster" Target="/ppt/slideMasters/slideMaster1.xml" Id="R7a9dd8c9e51d4e72" /><Relationship Type="http://schemas.openxmlformats.org/officeDocument/2006/relationships/notesMaster" Target="/ppt/notesMasters/notesMaster1.xml" Id="Rcaf9aa6436c24e2c" /><Relationship Type="http://schemas.openxmlformats.org/officeDocument/2006/relationships/presProps" Target="/ppt/presProps.xml" Id="Re1baf0c2588d4bfe" /><Relationship Type="http://schemas.openxmlformats.org/officeDocument/2006/relationships/tableStyles" Target="/ppt/tableStyles.xml" Id="R1cf14fa48959424b" /><Relationship Type="http://schemas.openxmlformats.org/officeDocument/2006/relationships/slide" Target="/ppt/slides/slide1.xml" Id="R622c4d31e46746f9" /><Relationship Type="http://schemas.openxmlformats.org/officeDocument/2006/relationships/slide" Target="/ppt/slides/slide2.xml" Id="R7aa5a0211a3a46ff" /><Relationship Type="http://schemas.openxmlformats.org/officeDocument/2006/relationships/slide" Target="/ppt/slides/slide3.xml" Id="R22b0790424044d7f" /><Relationship Type="http://schemas.openxmlformats.org/officeDocument/2006/relationships/slide" Target="/ppt/slides/slide4.xml" Id="Red612ec7c62346db" /><Relationship Type="http://schemas.openxmlformats.org/officeDocument/2006/relationships/slide" Target="/ppt/slides/slide5.xml" Id="Rad312a7220ac489d" /><Relationship Type="http://schemas.openxmlformats.org/officeDocument/2006/relationships/slide" Target="/ppt/slides/slide6.xml" Id="R61890ad4404a4361" /><Relationship Type="http://schemas.openxmlformats.org/officeDocument/2006/relationships/slide" Target="/ppt/slides/slide7.xml" Id="Rafefb71d70c74518" /><Relationship Type="http://schemas.openxmlformats.org/officeDocument/2006/relationships/slide" Target="/ppt/slides/slide8.xml" Id="R6cc02ea2a98c4cfa" /><Relationship Type="http://schemas.openxmlformats.org/officeDocument/2006/relationships/slide" Target="/ppt/slides/slide9.xml" Id="R1ef146be211c4793" /><Relationship Type="http://schemas.openxmlformats.org/officeDocument/2006/relationships/slide" Target="/ppt/slides/slide10.xml" Id="R8a421cca0c424b01" /><Relationship Type="http://schemas.openxmlformats.org/officeDocument/2006/relationships/slide" Target="/ppt/slides/slide11.xml" Id="R40c0655627cd4fc4" /><Relationship Type="http://schemas.openxmlformats.org/officeDocument/2006/relationships/slide" Target="/ppt/slides/slide12.xml" Id="Rce1896b191294d39" /><Relationship Type="http://schemas.openxmlformats.org/officeDocument/2006/relationships/slide" Target="/ppt/slides/slide13.xml" Id="R053639e0ada248b6" /><Relationship Type="http://schemas.openxmlformats.org/officeDocument/2006/relationships/slide" Target="/ppt/slides/slide14.xml" Id="R05fd61a7962e462e" /><Relationship Type="http://schemas.openxmlformats.org/officeDocument/2006/relationships/slide" Target="/ppt/slides/slide15.xml" Id="R0958881571514f6d" /><Relationship Type="http://schemas.openxmlformats.org/officeDocument/2006/relationships/slide" Target="/ppt/slides/slide16.xml" Id="R7e4ce5b9256e4396" /><Relationship Type="http://schemas.openxmlformats.org/officeDocument/2006/relationships/slide" Target="/ppt/slides/slide17.xml" Id="Rb216e7b9c65645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fa4150b95e43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ac1b20d8a8477b" /><Relationship Type="http://schemas.openxmlformats.org/officeDocument/2006/relationships/notesMaster" Target="/ppt/notesMasters/notesMaster1.xml" Id="R97a9ecec805b42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a80aeb7029440d" /><Relationship Type="http://schemas.openxmlformats.org/officeDocument/2006/relationships/notesMaster" Target="/ppt/notesMasters/notesMaster1.xml" Id="R719b271f20094e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1716eb61dc4bc0" /><Relationship Type="http://schemas.openxmlformats.org/officeDocument/2006/relationships/notesMaster" Target="/ppt/notesMasters/notesMaster1.xml" Id="R71ddd9644c1249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977ac83f544a38" /><Relationship Type="http://schemas.openxmlformats.org/officeDocument/2006/relationships/notesMaster" Target="/ppt/notesMasters/notesMaster1.xml" Id="R538715c82d7742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3438ba5b01484a" /><Relationship Type="http://schemas.openxmlformats.org/officeDocument/2006/relationships/notesMaster" Target="/ppt/notesMasters/notesMaster1.xml" Id="R528a5fd76afe44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5b8b32f9824551" /><Relationship Type="http://schemas.openxmlformats.org/officeDocument/2006/relationships/notesMaster" Target="/ppt/notesMasters/notesMaster1.xml" Id="R0196d0b939ac46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dd705ff72f43a3" /><Relationship Type="http://schemas.openxmlformats.org/officeDocument/2006/relationships/notesMaster" Target="/ppt/notesMasters/notesMaster1.xml" Id="R0a905c90fba843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7d773887db4b78" /><Relationship Type="http://schemas.openxmlformats.org/officeDocument/2006/relationships/notesMaster" Target="/ppt/notesMasters/notesMaster1.xml" Id="R8dcc31830a7240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621ff282854bc1" /><Relationship Type="http://schemas.openxmlformats.org/officeDocument/2006/relationships/notesMaster" Target="/ppt/notesMasters/notesMaster1.xml" Id="R1cf0f2476fe94b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33e3f1eb614455" /><Relationship Type="http://schemas.openxmlformats.org/officeDocument/2006/relationships/notesMaster" Target="/ppt/notesMasters/notesMaster1.xml" Id="R7a7e09c48e9247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27e6d04ff84ef2" /><Relationship Type="http://schemas.openxmlformats.org/officeDocument/2006/relationships/notesMaster" Target="/ppt/notesMasters/notesMaster1.xml" Id="R92f9bffeaf5f44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89f5d05cfd4f70" /><Relationship Type="http://schemas.openxmlformats.org/officeDocument/2006/relationships/notesMaster" Target="/ppt/notesMasters/notesMaster1.xml" Id="Rc8d6445c695a4e3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47bc58e44fe42f8" /><Relationship Type="http://schemas.openxmlformats.org/officeDocument/2006/relationships/notesMaster" Target="/ppt/notesMasters/notesMaster1.xml" Id="R235ca2029a5c42e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2c5ba2b6d224120" /><Relationship Type="http://schemas.openxmlformats.org/officeDocument/2006/relationships/notesMaster" Target="/ppt/notesMasters/notesMaster1.xml" Id="R7368423ad4f143a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7af1465b72f4178" /><Relationship Type="http://schemas.openxmlformats.org/officeDocument/2006/relationships/notesMaster" Target="/ppt/notesMasters/notesMaster1.xml" Id="R8a5e84f6d6c3426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72c2f8d5dc54e62" /><Relationship Type="http://schemas.openxmlformats.org/officeDocument/2006/relationships/notesMaster" Target="/ppt/notesMasters/notesMaster1.xml" Id="R70f2eda3440d4c9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34610efce5c4e2a" /><Relationship Type="http://schemas.openxmlformats.org/officeDocument/2006/relationships/notesMaster" Target="/ppt/notesMasters/notesMaster1.xml" Id="R9356a396b1964a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Built for the supplied AI Engineer Internship case study. This is an implementation and verification walkthrough, not a claim of completed public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official case study, sections 1–7 and 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sample_outputs/ocr_run/manifest.json. 30 PDFs: 23 one-page, 7 two-page. 20 JPG images. No PNGs were supplied; generated PNG and scanned PDF tests cover those formats.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backend is aiohttp, an allowed equivalent Python framework. Native shape connectors are editable. The API writes completed pipeline results and serves database-backed reads. Errors and stage logs are handled across all services.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backend/app/services/document_validation_service.py; automated validation and API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services/ocr_service.py. Mean Tesseract word confidence is a diagnostic, not a calibrated extraction-confidence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schemas/extraction.py, services/prompts.py and services/model_client.py. Model: gemini-2.5-flash, configurable. Official model source: https://ai.google.dev/gemini-api/docs/models/gemini-2.5-flash . No live call was made in this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sample_outputs/reference_runs/invoice.json. This is an annotated reference replay on batch1-1109.jpg, not a live Gemini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Source-backed calculations from reference_runs/invoice.json and cash_flow_statement.json. The cash-flow example uses 2022 source values, in crore. Decimal arithmetic runs independently of the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api/routes/documents.py, repositories/document_repository.py and core/database.py. Four results survived an actual production-process restart in scripts/local_smoke.py. Turso protocol tests are mocked.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frontend/templates/dashboard.html and frontend/static/js/app.js. Static HTML/JS contracts and HTTP delivery were tested. Browser rendering and interactions could not run because Chromium is absent.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docs/verification.md, sample_outputs/ocr_run, reference_runs and local_run. A passing fixture replay does not establish LLM extraction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OCR evidence: earlier OSD run rotated three upright receipts by 180 degrees. Rechecking text quality kept the upright images and improved mean word confidence approximately 27→66, 31→78 and 39→79. A separate full-process restart test caught percent-encoded filenames.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Files: Dockerfile, compose.yaml, render.yaml and docs/deployment.md. Sources: https://render.com/docs/free and https://docs.turso.tech/sdk/http/quickstart . The files were prepared; Docker and actual deployment were not executed.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limits are material to the official case study. No public URL, live provider success or extraction accuracy metric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AI/tool declaration: Codex/ChatGPT interpreted requirements, authored code/tests/docs, annotated source-backed fixtures and diagnosed issues. Tesseract performed OCR; Gemini was not called.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Perform this sequence against the verified deployment after completing docs/deployment.md. Explain fixture provenance if demonstrating the current offline reference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4f6437639d48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7d5395b2324601" /><Relationship Type="http://schemas.openxmlformats.org/officeDocument/2006/relationships/slideLayout" Target="/ppt/slideLayouts/slideLayout1.xml" Id="R08785086ffd046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785086ffd046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f5275f3c948f3" /><Relationship Type="http://schemas.openxmlformats.org/officeDocument/2006/relationships/notesSlide" Target="/ppt/notesSlides/notesSlide1.xml" Id="R84f59b85d6f646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d272529ac46ac" /><Relationship Type="http://schemas.openxmlformats.org/officeDocument/2006/relationships/notesSlide" Target="/ppt/notesSlides/notesSlide2.xml" Id="Rd9f5d3a5ab0549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45c2070f24f08" /><Relationship Type="http://schemas.openxmlformats.org/officeDocument/2006/relationships/notesSlide" Target="/ppt/notesSlides/notesSlide3.xml" Id="Ra566b1a7e7dd4d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5b177106f49db" /><Relationship Type="http://schemas.openxmlformats.org/officeDocument/2006/relationships/notesSlide" Target="/ppt/notesSlides/notesSlide4.xml" Id="R8a3118eeed584b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18a115330422b" /><Relationship Type="http://schemas.openxmlformats.org/officeDocument/2006/relationships/notesSlide" Target="/ppt/notesSlides/notesSlide5.xml" Id="R4f09f338a4be42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27a61974945e1" /><Relationship Type="http://schemas.openxmlformats.org/officeDocument/2006/relationships/notesSlide" Target="/ppt/notesSlides/notesSlide6.xml" Id="R4c2727a6babc47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706c18ef042c6" /><Relationship Type="http://schemas.openxmlformats.org/officeDocument/2006/relationships/notesSlide" Target="/ppt/notesSlides/notesSlide7.xml" Id="R91fbe1d3d28149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ed25bde284b46" /><Relationship Type="http://schemas.openxmlformats.org/officeDocument/2006/relationships/notesSlide" Target="/ppt/notesSlides/notesSlide8.xml" Id="R0fd21310ff2a46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bfb57e5314496" /><Relationship Type="http://schemas.openxmlformats.org/officeDocument/2006/relationships/notesSlide" Target="/ppt/notesSlides/notesSlide9.xml" Id="Rf0725e4bd42844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f1899f3a146e9" /><Relationship Type="http://schemas.openxmlformats.org/officeDocument/2006/relationships/notesSlide" Target="/ppt/notesSlides/notesSlide10.xml" Id="R5e376f94293c40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f3cdba75545d9" /><Relationship Type="http://schemas.openxmlformats.org/officeDocument/2006/relationships/notesSlide" Target="/ppt/notesSlides/notesSlide11.xml" Id="Rdb3d4b95a0154e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0ec8be4bb459c" /><Relationship Type="http://schemas.openxmlformats.org/officeDocument/2006/relationships/notesSlide" Target="/ppt/notesSlides/notesSlide12.xml" Id="Ra8b9e85b48ba409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118ed24c847b0" /><Relationship Type="http://schemas.openxmlformats.org/officeDocument/2006/relationships/notesSlide" Target="/ppt/notesSlides/notesSlide13.xml" Id="R66cea28681de489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f6917451a4959" /><Relationship Type="http://schemas.openxmlformats.org/officeDocument/2006/relationships/notesSlide" Target="/ppt/notesSlides/notesSlide14.xml" Id="R78129def5bfa4a7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787ca7a1a47e3" /><Relationship Type="http://schemas.openxmlformats.org/officeDocument/2006/relationships/notesSlide" Target="/ppt/notesSlides/notesSlide15.xml" Id="R82fa82c9b8164ec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893906fa14c3e" /><Relationship Type="http://schemas.openxmlformats.org/officeDocument/2006/relationships/notesSlide" Target="/ppt/notesSlides/notesSlide16.xml" Id="R99158d90e0054c4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aa81c72ef4788" /><Relationship Type="http://schemas.openxmlformats.org/officeDocument/2006/relationships/notesSlide" Target="/ppt/notesSlides/notesSlide17.xml" Id="R6615b5f09c6a4f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6A21F-F5DB-4069-87EB-EF0E9B48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Document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2AC7E-C6CB-4E18-B3EF-41B4EDD9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613FD-6C01-4B99-92C9-CE5C9D1B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10001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8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Financial document extraction</a:t>
            </a:r>
          </a:p>
          <a:p xmlns:a="http://schemas.openxmlformats.org/drawingml/2006/main">
            <a:pPr>
              <a:defRPr sz="48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8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and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A32E9-DE66-4C93-A48E-D5A47081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rPr>
              <a:t>Python API · page-aware OCR · structured data · persistent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6C788C-AA60-4E5B-9BE1-E2D393F4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676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6760"/>
                </a:solidFill>
                <a:latin typeface="Bitstream Charter"/>
                <a:ea typeface="Bitstream Charter"/>
                <a:cs typeface="Bitstream Charter"/>
              </a:rPr>
              <a:t>Local build verified. Live AI extraction and public deployment remain outstanding.</a:t>
            </a:r>
          </a:p>
        </p:txBody>
      </p:sp>
    </p:spTree>
    <p:extLst>
      <p:ext uri="{BB962C8B-B14F-4D97-AF65-F5344CB8AC3E}">
        <p14:creationId xmlns:p14="http://schemas.microsoft.com/office/powerpoint/2010/main" val="13558942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5EF3C-2B85-4DE4-8F80-CF4649DD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Problem and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B9BDD-F291-4D8F-BA46-217FB00E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23BB6-47AC-49A2-B625-1097D865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Invoices and statements arrive as scanned images or native PDFs.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29A071-21D1-4E93-BB3E-A36D2FB3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12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Extract visible fields and tables without inventing missing values.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E96C1-5FF1-425B-8ED4-24E09E2F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Check financial relationships separately for each reporting period.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55F5DA-0023-4B8B-9879-C5630D72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672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Make results available through a persistent dashboard and REST APIs.</a:t>
            </a:r>
          </a:p>
        </p:txBody>
      </p:sp>
    </p:spTree>
    <p:extLst>
      <p:ext uri="{BB962C8B-B14F-4D97-AF65-F5344CB8AC3E}">
        <p14:creationId xmlns:p14="http://schemas.microsoft.com/office/powerpoint/2010/main" val="11364469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B22725-51FA-470C-99CF-CDA4795F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Dataset inspection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A06D5-0C3C-4FDA-B094-B7409BF9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8D797-7E8B-4261-AC5F-7F3105E5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17676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200" b="1">
                <a:solidFill>
                  <a:srgbClr val="176760"/>
                </a:solidFill>
                <a:latin typeface="Bitstream Charter"/>
                <a:ea typeface="Bitstream Charter"/>
                <a:cs typeface="Bitstream Charter"/>
              </a:rPr>
              <a:t>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D3F7F-7B04-4285-9C77-26D100D2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supplied documents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C472C-2402-4E6E-90BA-098E61FB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17676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200" b="1">
                <a:solidFill>
                  <a:srgbClr val="176760"/>
                </a:solidFill>
                <a:latin typeface="Bitstream Charter"/>
                <a:ea typeface="Bitstream Charter"/>
                <a:cs typeface="Bitstream Charter"/>
              </a:rPr>
              <a:t>57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560B1-7A02-4863-BC31-4BEC8C05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pages and images processed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71D3B-85BE-4629-9DE6-FE08315A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20 invoice images and 10 examples of each financial statement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6CEF8-9A9F-4340-A5C3-833C4679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rPr>
              <a:t>29 of the 30 PDFs require OCR. One cash-flow PDF has native text.</a:t>
            </a:r>
          </a:p>
        </p:txBody>
      </p:sp>
    </p:spTree>
    <p:extLst>
      <p:ext uri="{BB962C8B-B14F-4D97-AF65-F5344CB8AC3E}">
        <p14:creationId xmlns:p14="http://schemas.microsoft.com/office/powerpoint/2010/main" val="14665378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692BDE-8E6A-444E-90DB-15660967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Application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51032-4936-40E9-94FA-AE1B4809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65AD1-FD53-4A34-A306-2266D77C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24000"/>
            <a:ext cx="2667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4"/>
          </a:solidFill>
          <a:ln xmlns:a="http://schemas.openxmlformats.org/drawingml/2006/main" w="9525">
            <a:solidFill>
              <a:srgbClr val="AAC4C1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Browser dashboard</a:t>
            </a:r>
          </a:p>
          <a:p xmlns:a="http://schemas.openxmlformats.org/drawingml/2006/main">
            <a:pPr algn="ctr">
              <a:defRPr sz="1725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Upload and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0E5B4-1B92-4D5F-AC46-E97CBF00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24000"/>
            <a:ext cx="2667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4"/>
          </a:solidFill>
          <a:ln xmlns:a="http://schemas.openxmlformats.org/drawingml/2006/main" w="9525">
            <a:solidFill>
              <a:srgbClr val="AAC4C1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Python HTTP API</a:t>
            </a:r>
          </a:p>
          <a:p xmlns:a="http://schemas.openxmlformats.org/drawingml/2006/main">
            <a:pPr algn="ctr">
              <a:defRPr sz="1725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aiohttp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BD31B-7898-4CC6-AC4B-234EFCCD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24000"/>
            <a:ext cx="2667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4"/>
          </a:solidFill>
          <a:ln xmlns:a="http://schemas.openxmlformats.org/drawingml/2006/main" w="9525">
            <a:solidFill>
              <a:srgbClr val="AAC4C1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Persistent database</a:t>
            </a:r>
          </a:p>
          <a:p xmlns:a="http://schemas.openxmlformats.org/drawingml/2006/main">
            <a:pPr algn="ctr">
              <a:defRPr sz="1725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SQLite or Turso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DE5D0-117B-425E-9361-E6C043AD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52750"/>
            <a:ext cx="2667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4"/>
          </a:solidFill>
          <a:ln xmlns:a="http://schemas.openxmlformats.org/drawingml/2006/main" w="9525">
            <a:solidFill>
              <a:srgbClr val="AAC4C1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File validation</a:t>
            </a:r>
          </a:p>
          <a:p xmlns:a="http://schemas.openxmlformats.org/drawingml/2006/main">
            <a:pPr algn="ctr">
              <a:defRPr sz="1725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Format, integrity, pages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3D6DB4-E3BB-4AA8-A3F0-ACB97BF2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52750"/>
            <a:ext cx="2667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4"/>
          </a:solidFill>
          <a:ln xmlns:a="http://schemas.openxmlformats.org/drawingml/2006/main" w="9525">
            <a:solidFill>
              <a:srgbClr val="AAC4C1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Text extraction</a:t>
            </a:r>
          </a:p>
          <a:p xmlns:a="http://schemas.openxmlformats.org/drawingml/2006/main">
            <a:pPr algn="ctr">
              <a:defRPr sz="1725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Native or Tesseract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0FEA2-C870-4A27-9732-4140C1B9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76750"/>
            <a:ext cx="2667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4"/>
          </a:solidFill>
          <a:ln xmlns:a="http://schemas.openxmlformats.org/drawingml/2006/main" w="9525">
            <a:solidFill>
              <a:srgbClr val="AAC4C1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Gemini extraction</a:t>
            </a:r>
          </a:p>
          <a:p xmlns:a="http://schemas.openxmlformats.org/drawingml/2006/main">
            <a:pPr algn="ctr">
              <a:defRPr sz="1725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JSON Schema 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554AC-A6C5-4643-9318-E618575A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76750"/>
            <a:ext cx="2667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4"/>
          </a:solidFill>
          <a:ln xmlns:a="http://schemas.openxmlformats.org/drawingml/2006/main" w="9525">
            <a:solidFill>
              <a:srgbClr val="AAC4C1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Pydantic and grounding</a:t>
            </a:r>
          </a:p>
          <a:p xmlns:a="http://schemas.openxmlformats.org/drawingml/2006/main">
            <a:pPr algn="ctr">
              <a:defRPr sz="1725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Source text and periods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0A6981-5D52-4215-A917-F21B4E12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2667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4"/>
          </a:solidFill>
          <a:ln xmlns:a="http://schemas.openxmlformats.org/drawingml/2006/main" w="9525">
            <a:solidFill>
              <a:srgbClr val="AAC4C1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Financial checks</a:t>
            </a:r>
          </a:p>
          <a:p xmlns:a="http://schemas.openxmlformats.org/drawingml/2006/main">
            <a:pPr algn="ctr">
              <a:defRPr sz="1725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Decimal arithmetic</a:t>
            </a:r>
          </a:p>
        </p:txBody>
      </p:sp>
      <p:cxnSp>
        <p:nvCxnSpPr>
          <p:cNvPr id="30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43250" y="200025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760"/>
            </a:solidFill>
            <a:tailEnd type="triangle" w="med" len="med"/>
          </a:ln>
        </p:spPr>
      </p:cxn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6858000" y="20002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760"/>
            </a:solidFill>
            <a:headEnd type="triangle" w="med" len="med"/>
            <a:tail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5524500" y="247650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760"/>
            </a:solidFill>
            <a:tailEnd type="triangle" w="med" len="med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858000" y="342900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760"/>
            </a:solidFill>
            <a:tailEnd type="triangle" w="med" len="med"/>
          </a:ln>
        </p:spPr>
      </p:cxnSp>
      <p:cxnSp>
        <p:nvCxnSpPr>
          <p:cNvPr id="34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001250" y="3905250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760"/>
            </a:solidFill>
            <a:tailEnd type="triangle" w="med" len="med"/>
          </a:ln>
        </p:spPr>
      </p:cxnSp>
      <p:cxnSp>
        <p:nvCxnSpPr>
          <p:cNvPr id="35" name="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6858000" y="495300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760"/>
            </a:solidFill>
            <a:tailEnd type="triangle" w="med" len="med"/>
          </a:ln>
        </p:spPr>
      </p:cxnSp>
      <p:cxnSp>
        <p:nvCxnSpPr>
          <p:cNvPr id="36" name="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3143250" y="49530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760"/>
            </a:solidFill>
            <a:tailEnd type="triangle" w="med" len="med"/>
          </a:ln>
        </p:spPr>
      </p:cxnSp>
      <p:cxnSp>
        <p:nvCxnSpPr>
          <p:cNvPr id="37" name=""/>
          <p:cNvCxnSpPr>
            <a:stCxn xmlns:a="http://schemas.openxmlformats.org/drawingml/2006/main" id="10" idx="0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1809750" y="2000250"/>
            <a:ext cx="2381250" cy="2476500"/>
          </a:xfrm>
          <a:prstGeom xmlns:a="http://schemas.openxmlformats.org/drawingml/2006/main" prst="bentConnector5">
            <a:avLst>
              <a:gd name="adj1" fmla="val 0"/>
              <a:gd name="adj2" fmla="val 9231"/>
              <a:gd name="adj3" fmla="val 90400"/>
            </a:avLst>
          </a:prstGeom>
          <a:ln xmlns:a="http://schemas.openxmlformats.org/drawingml/2006/main" w="19050">
            <a:solidFill>
              <a:srgbClr val="176760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922CCF-0F2C-4F0A-B021-1024AD89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rPr>
              <a:t>Controlled errors and request-ID stage logs span the pipeline.</a:t>
            </a:r>
          </a:p>
        </p:txBody>
      </p:sp>
    </p:spTree>
    <p:extLst>
      <p:ext uri="{BB962C8B-B14F-4D97-AF65-F5344CB8AC3E}">
        <p14:creationId xmlns:p14="http://schemas.microsoft.com/office/powerpoint/2010/main" val="13428821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DCEE4-8E73-497C-B551-AFAD2F7F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Input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89738-A5FC-4A4B-A7C7-ECBA0C71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61025-69C4-4002-A5B5-DC733E49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Allow PDF, JPG and PNG only, with matching file signatures.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2E3AB-7A21-4D26-B6FF-51B53905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12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Reject empty, corrupted, encrypted, oversized and over-three-page files.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2E2F5-3A13-4919-95F7-321B8F31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Sanitize filenames and bound image-rendering memory.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46F37-4A9A-463B-A190-7692CFF6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672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Return controlled JSON errors; retain processing failures where possible.</a:t>
            </a:r>
          </a:p>
        </p:txBody>
      </p:sp>
    </p:spTree>
    <p:extLst>
      <p:ext uri="{BB962C8B-B14F-4D97-AF65-F5344CB8AC3E}">
        <p14:creationId xmlns:p14="http://schemas.microsoft.com/office/powerpoint/2010/main" val="1429860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78156D-880A-498B-8454-66E9A560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OCR and page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D45BF-9C7D-4786-8469-10E8F061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FE08D-D629-4B9F-AFC9-36FD1DDE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Native PDF page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2E4E0-939B-4B52-BD83-3641A2A3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46196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Extract positioned words.</a:t>
            </a:r>
          </a:p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Preserve larger column gaps.</a:t>
            </a:r>
          </a:p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Skip OCR when the text is usable.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A9DD3-66B8-4115-807D-7E8AB8A2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573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Scanned page or image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A9B88B-9C29-4DA4-B1C5-BD43171E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857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Apply EXIF orientation and contrast.</a:t>
            </a:r>
          </a:p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Run bounded Tesseract OCR.</a:t>
            </a:r>
          </a:p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Compare rotation candidates for weak 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91EEC-70AC-4446-8E7B-4277FF4F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676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76760"/>
                </a:solidFill>
                <a:latin typeface="Bitstream Charter"/>
                <a:ea typeface="Bitstream Charter"/>
                <a:cs typeface="Bitstream Charter"/>
              </a:rPr>
              <a:t>Every page retains its text, extraction method and page number.</a:t>
            </a:r>
          </a:p>
        </p:txBody>
      </p:sp>
    </p:spTree>
    <p:extLst>
      <p:ext uri="{BB962C8B-B14F-4D97-AF65-F5344CB8AC3E}">
        <p14:creationId xmlns:p14="http://schemas.microsoft.com/office/powerpoint/2010/main" val="3158608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2F643-0394-43D0-861E-8A8CE80D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Structured AI extraction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D06F0-38A5-47F5-8FEF-92566020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94EAF-F7AF-4ED4-AEEC-1DF0D2EC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Pydantic defines the provider schema and the output contract.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BFB51-942A-47B7-9A25-02BD1ACE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12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Extensible fields and tables preserve additional visible information.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F41CD-9653-48C7-9826-014CA283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Comparative periods remain separate; original labels are retained.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7CC6EB-4D77-457D-B0C7-14018C86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672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Missing values are null. Malformed or incomplete responses fail clearly.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492E9-A142-4593-AE06-41E1B8BC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864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676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76760"/>
                </a:solidFill>
                <a:latin typeface="Bitstream Charter"/>
                <a:ea typeface="Bitstream Charter"/>
                <a:cs typeface="Bitstream Charter"/>
              </a:rPr>
              <a:t>Live model accuracy and completeness still require evaluation with an API key.</a:t>
            </a:r>
          </a:p>
        </p:txBody>
      </p:sp>
    </p:spTree>
    <p:extLst>
      <p:ext uri="{BB962C8B-B14F-4D97-AF65-F5344CB8AC3E}">
        <p14:creationId xmlns:p14="http://schemas.microsoft.com/office/powerpoint/2010/main" val="13621502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4C9AB-9CFA-4EF6-A055-037B95B2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Evidence and conservative normalization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A2D80-3354-45A4-8D66-9C9634E8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5447B-BB1F-48C7-926B-DDFFEBEC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Printed total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3FB59-793F-4CEA-A655-4AC47118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676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350" b="1">
                <a:solidFill>
                  <a:srgbClr val="176760"/>
                </a:solidFill>
                <a:latin typeface="Bitstream Charter"/>
                <a:ea typeface="Bitstream Charter"/>
                <a:cs typeface="Bitstream Charter"/>
              </a:rPr>
              <a:t>$ 138,90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19C87-AA8D-4074-B577-B66495BD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Accepted structured value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B4A749-82E3-4998-B172-0FDFFBF2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4953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value: "138,90"</a:t>
            </a:r>
          </a:p>
          <a:p xmlns:a="http://schemas.openxmlformats.org/drawingml/2006/main">
            <a:pPr>
              <a:defRPr sz="232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numeric_value: "138.90"</a:t>
            </a:r>
          </a:p>
          <a:p xmlns:a="http://schemas.openxmlformats.org/drawingml/2006/main">
            <a:pPr>
              <a:defRPr sz="232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page_number: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263F3F-6D8C-4E6F-A26C-3791011E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917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rPr>
              <a:t>A quote must exist on the claimed page and contain the exact raw value.</a:t>
            </a:r>
          </a:p>
          <a:p xmlns:a="http://schemas.openxmlformats.org/drawingml/2006/main">
            <a:pPr>
              <a:defRPr sz="2025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rPr>
              <a:t>Grounding supports traceability; it cannot prove the OCR read the image correctly.</a:t>
            </a:r>
          </a:p>
        </p:txBody>
      </p:sp>
    </p:spTree>
    <p:extLst>
      <p:ext uri="{BB962C8B-B14F-4D97-AF65-F5344CB8AC3E}">
        <p14:creationId xmlns:p14="http://schemas.microsoft.com/office/powerpoint/2010/main" val="10852943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3BE9F-F15F-4C7E-A92E-6B92521B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Deterministic financial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5EBD5-2495-484E-9002-5C72A068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1C2D4-D1AF-4D70-8E3F-7AC1FE02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Invoice total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C0530-AB73-47AA-8AA0-2ABE4FAF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955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17676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0">
                <a:solidFill>
                  <a:srgbClr val="176760"/>
                </a:solidFill>
                <a:latin typeface="Bitstream Charter"/>
                <a:ea typeface="Bitstream Charter"/>
                <a:cs typeface="Bitstream Charter"/>
              </a:rPr>
              <a:t>126.27 + 12.63 = 138.90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52B2C-9A84-4A4B-AD27-64A183F5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Cash-flow net change, 2022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B7252-E729-488A-A47F-DA3DC279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6717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676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75" b="0">
                <a:solidFill>
                  <a:srgbClr val="176760"/>
                </a:solidFill>
                <a:latin typeface="Bitstream Charter"/>
                <a:ea typeface="Bitstream Charter"/>
                <a:cs typeface="Bitstream Charter"/>
              </a:rPr>
              <a:t>−11,959.57 − 2,216.33 + 48,124.02 + 165.10</a:t>
            </a:r>
          </a:p>
          <a:p xmlns:a="http://schemas.openxmlformats.org/drawingml/2006/main">
            <a:pPr>
              <a:defRPr sz="2475" b="0">
                <a:solidFill>
                  <a:srgbClr val="17676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75" b="0">
                <a:solidFill>
                  <a:srgbClr val="176760"/>
                </a:solidFill>
                <a:latin typeface="Bitstream Charter"/>
                <a:ea typeface="Bitstream Charter"/>
                <a:cs typeface="Bitstream Charter"/>
              </a:rPr>
              <a:t>= 34,113.22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641A23-4982-4EE2-A406-E7A52333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rPr>
              <a:t>Absolute tolerance: 0.05 in displayed units. Missing operands: NOT_APPLICABLE.</a:t>
            </a:r>
          </a:p>
        </p:txBody>
      </p:sp>
    </p:spTree>
    <p:extLst>
      <p:ext uri="{BB962C8B-B14F-4D97-AF65-F5344CB8AC3E}">
        <p14:creationId xmlns:p14="http://schemas.microsoft.com/office/powerpoint/2010/main" val="6755912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6ABB0-A171-457B-BDDE-2FE91B65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API and persistence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D9669-4CC4-450E-B957-20F0129F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C9BD0-5C30-42AF-A460-25FF5E60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572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POST  /api/v1/documents/process</a:t>
            </a:r>
          </a:p>
          <a:p xmlns:a="http://schemas.openxmlformats.org/drawingml/2006/main">
            <a:pPr>
              <a:defRPr sz="232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GET    /api/v1/documents/{document_name}</a:t>
            </a:r>
          </a:p>
          <a:p xmlns:a="http://schemas.openxmlformats.org/drawingml/2006/main">
            <a:pPr>
              <a:defRPr sz="232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GET    /api/v1/documents</a:t>
            </a:r>
          </a:p>
          <a:p xmlns:a="http://schemas.openxmlformats.org/drawingml/2006/main">
            <a:pPr>
              <a:defRPr sz="232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GET    /api/v1/health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93CB1-B207-40DA-98EC-B66BEE8B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One saved result per sanitized filename; reprocessing updates the latest record.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7BDD0-DD7A-4581-8F5F-83030B86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054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rPr>
              <a:t>SQLite locally. External Turso storage for a host with an ephemeral disk.</a:t>
            </a:r>
          </a:p>
        </p:txBody>
      </p:sp>
    </p:spTree>
    <p:extLst>
      <p:ext uri="{BB962C8B-B14F-4D97-AF65-F5344CB8AC3E}">
        <p14:creationId xmlns:p14="http://schemas.microsoft.com/office/powerpoint/2010/main" val="18729968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943B58-86B2-4ABE-A3B0-564673B0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Dashboard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23FDE7-67D6-4E74-B291-45B3ED60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4CE0D-49DF-4034-9F4E-F6EB368C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8592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Upload and browse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AF3F2-630B-4F14-B94A-F887136B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49053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Select the document type.</a:t>
            </a:r>
          </a:p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Upload one supported file.</a:t>
            </a:r>
          </a:p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Search saved results by filename.</a:t>
            </a:r>
          </a:p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Open the latest database record.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B8B1C-D7C6-4226-8B8D-549677A7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8592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Inspect the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1112D-E598-4F49-BB69-54A7CF5C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1460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Read fields and financial tables.</a:t>
            </a:r>
          </a:p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Expand source evidence.</a:t>
            </a:r>
          </a:p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Inspect checks and missing values.</a:t>
            </a:r>
          </a:p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Expand the full JSON response.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2E300-6817-4589-A8C6-32A10523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676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76760"/>
                </a:solidFill>
                <a:latin typeface="Bitstream Charter"/>
                <a:ea typeface="Bitstream Charter"/>
                <a:cs typeface="Bitstream Charter"/>
              </a:rPr>
              <a:t>Same-origin requests connect the frontend to the deployed backend.</a:t>
            </a:r>
          </a:p>
        </p:txBody>
      </p:sp>
    </p:spTree>
    <p:extLst>
      <p:ext uri="{BB962C8B-B14F-4D97-AF65-F5344CB8AC3E}">
        <p14:creationId xmlns:p14="http://schemas.microsoft.com/office/powerpoint/2010/main" val="4619859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0D3A8A-FD24-4A1D-9CE4-9EC9EAAA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Executed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F4D10-05AB-4F0A-94AA-6BEF3036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8DFE9-A00A-4BC1-BC8B-FB00A479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676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76760"/>
                </a:solidFill>
                <a:latin typeface="Bitstream Charter"/>
                <a:ea typeface="Bitstream Charter"/>
                <a:cs typeface="Bitstream Charter"/>
              </a:rPr>
              <a:t>54 automated tests passed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0DE131-D3D6-45F5-A628-0C4B8EB7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Real OCR/native text recovery on all 50 supplied documents.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672E9-34AD-4C06-BCE2-41F5009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99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Four annotated reference replays exercised all document categories.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9AB5B-1911-4796-BB00-8052035A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Standalone HTTP smoke checks retained four results after restart.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30D624-2BB7-4D89-A1DF-F8E681CE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rPr>
              <a:t>Browser, live model, live Turso and Docker build remain unverified.</a:t>
            </a:r>
          </a:p>
        </p:txBody>
      </p:sp>
    </p:spTree>
    <p:extLst>
      <p:ext uri="{BB962C8B-B14F-4D97-AF65-F5344CB8AC3E}">
        <p14:creationId xmlns:p14="http://schemas.microsoft.com/office/powerpoint/2010/main" val="147217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27539-4F14-4707-B3E9-4434054F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Issues found and fixed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C49B6D-15A7-4FA9-A97F-6B78E9D6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F9F13-1BB7-466E-98E3-22CC1FA4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28775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Incorrect receipt rotation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E7E55-45EF-460E-A773-3FC6FF8D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057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OSD suggested a 180° flip for upright receipts. The pipeline now compares</a:t>
            </a:r>
          </a:p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recognition quality before accepting a rotation.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6FBA8-F66E-460A-B128-0E4696ED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6675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Encoded upload filenames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F9B04-4647-4886-A3C0-1FCBF03A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1057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Multipart clients encoded spaces in filenames. Decoding before sanitization</a:t>
            </a:r>
          </a:p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restored consistent GET-by-name behavior; a regression test covers it.</a:t>
            </a:r>
          </a:p>
        </p:txBody>
      </p:sp>
    </p:spTree>
    <p:extLst>
      <p:ext uri="{BB962C8B-B14F-4D97-AF65-F5344CB8AC3E}">
        <p14:creationId xmlns:p14="http://schemas.microsoft.com/office/powerpoint/2010/main" val="11866986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E179B-E2ED-4142-B6B4-B98EEF15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Deployment 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CF23A-F32C-40C3-B21B-DFCDDB33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E7F2A-12C6-4656-8F48-53DF1663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Docker packages Python and Tesseract in one service.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4B4C0-40D5-454A-B4C8-4288B200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12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Render configuration reads PORT and serves frontend plus API.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A529F-21D4-4AE1-8259-40D2EAEE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Turso keeps records outside the free service’s ephemeral filesystem.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9D17F-596D-4C8A-97C4-A8F3C7D3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672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Deploy, run a real upload, and verify persistence before submitting URLs.</a:t>
            </a:r>
          </a:p>
        </p:txBody>
      </p:sp>
    </p:spTree>
    <p:extLst>
      <p:ext uri="{BB962C8B-B14F-4D97-AF65-F5344CB8AC3E}">
        <p14:creationId xmlns:p14="http://schemas.microsoft.com/office/powerpoint/2010/main" val="16329331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6A8E3-A67D-47F9-ADAE-FF1F3D6C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Outstanding verification and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CFCAF-F3C3-4760-A02B-3E5C70A9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F16DE-3275-479F-B24A-968085EC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Live Gemini response quality and completeness need an authorized API key.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51B8A6-02BC-46A6-8885-BC9C98C9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12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Browser behavior, Docker build and live Turso connectivity need verification.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E7397-00C7-4BD5-8992-4AFAB02D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OCR errors remain possible in faint, skewed or densely printed documents.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D44A6-5C61-45E6-82BE-A8D35138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672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Public GitHub and verified live application URLs are still required.</a:t>
            </a:r>
          </a:p>
        </p:txBody>
      </p:sp>
    </p:spTree>
    <p:extLst>
      <p:ext uri="{BB962C8B-B14F-4D97-AF65-F5344CB8AC3E}">
        <p14:creationId xmlns:p14="http://schemas.microsoft.com/office/powerpoint/2010/main" val="2308762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515BE-13E1-4306-B2BE-55AA0E76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AI tools and production improvements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0778F1-6F7B-4865-9E26-D96D7D7E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28393B-5441-4B32-9584-61347E6B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8592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Tools used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630F9-FB87-4152-A9C8-0385CA0F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49053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Codex/ChatGPT for implementation,</a:t>
            </a:r>
          </a:p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tests, debugging and documentation.</a:t>
            </a:r>
          </a:p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PyMuPDF and Tesseract for real</a:t>
            </a:r>
          </a:p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dataset text recovery.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1CB64-6893-4A6C-ADEF-57601209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8592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Next engineering steps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24B22-BD8F-4714-A21A-290B7E4B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1460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Add authentication and retention.</a:t>
            </a:r>
          </a:p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Measure a labelled evaluation set.</a:t>
            </a:r>
          </a:p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Add source-image review and correction.</a:t>
            </a:r>
          </a:p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Move longer work to background jobs.</a:t>
            </a:r>
          </a:p>
        </p:txBody>
      </p:sp>
    </p:spTree>
    <p:extLst>
      <p:ext uri="{BB962C8B-B14F-4D97-AF65-F5344CB8AC3E}">
        <p14:creationId xmlns:p14="http://schemas.microsoft.com/office/powerpoint/2010/main" val="8428026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3FACE-AD7A-4214-89ED-45527BF4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Interview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85427-029F-4C69-84C1-B24F4199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66772"/>
                </a:solidFill>
                <a:latin typeface="Bitstream Charter"/>
                <a:ea typeface="Bitstream Charter"/>
                <a:cs typeface="Bitstream Charter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E8ECE-59F9-4B60-82C2-A1E535A4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Upload an invoice image and inspect its line items and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B112F-AA36-4460-83DE-BC7A8A2B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12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Process a comparative statement and explain period-specific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503CD-D044-405B-96AA-3766F05E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Show a missing operand and a deliberate financial failure.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6DF0C-DA9C-4325-935F-9546DC4D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672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42B35"/>
                </a:solidFill>
                <a:latin typeface="Bitstream Charter"/>
                <a:ea typeface="Bitstream Charter"/>
                <a:cs typeface="Bitstream Charter"/>
              </a:rPr>
              <a:t>Restart the service, retrieve the saved result, and explain the architecture.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DE378-C463-46AF-8700-47BD997E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676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76760"/>
                </a:solidFill>
                <a:latin typeface="Bitstream Charter"/>
                <a:ea typeface="Bitstream Charter"/>
                <a:cs typeface="Bitstream Charter"/>
              </a:rPr>
              <a:t>Be explicit about which checks ran live and which use test fixtures.</a:t>
            </a:r>
          </a:p>
        </p:txBody>
      </p:sp>
    </p:spTree>
    <p:extLst>
      <p:ext uri="{BB962C8B-B14F-4D97-AF65-F5344CB8AC3E}">
        <p14:creationId xmlns:p14="http://schemas.microsoft.com/office/powerpoint/2010/main" val="20436497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2026-09-11T07:57:27.5910000Z</dcterms:created>
  <dcterms:modified xsi:type="dcterms:W3CDTF">2026-09-11T07:57:27.5910000Z</dcterms:modified>
</coreProperties>
</file>